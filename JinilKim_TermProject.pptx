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DD546-AE82-2044-8F1D-1509EB874298}" v="87" dt="2025-09-20T05:52:27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7"/>
    <p:restoredTop sz="85746"/>
  </p:normalViewPr>
  <p:slideViewPr>
    <p:cSldViewPr snapToGrid="0">
      <p:cViewPr>
        <p:scale>
          <a:sx n="61" d="100"/>
          <a:sy n="61" d="100"/>
        </p:scale>
        <p:origin x="23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12E2E-C8B7-3149-A328-F226D0A8E0F2}" type="datetimeFigureOut">
              <a:rPr lang="en-KR" smtClean="0"/>
              <a:t>9/20/25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98B12-B970-C241-BF0F-6C2024C4B17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5639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Checking the research team is beneficial</a:t>
            </a:r>
          </a:p>
          <a:p>
            <a:endParaRPr lang="en-KR" dirty="0"/>
          </a:p>
          <a:p>
            <a:r>
              <a:rPr lang="en-KR" dirty="0"/>
              <a:t>Does couple of biological studies, but also eminent psycholinguist in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8B12-B970-C241-BF0F-6C2024C4B176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6941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Related to the question, the</a:t>
            </a:r>
            <a:r>
              <a:rPr lang="en-US" dirty="0"/>
              <a:t>re</a:t>
            </a:r>
            <a:r>
              <a:rPr lang="en-KR" dirty="0"/>
              <a:t> is no consistent point of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8B12-B970-C241-BF0F-6C2024C4B176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89749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4B96B-DCAA-CC0E-C800-20445E04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E96B5-2B8B-6D7B-0D6D-72748E212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EA07E-9585-032A-9180-C37C9B381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N400 (integration difficulty) and P600 (reanalysis).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D84FC-7C1E-3C61-FFBB-7338D4EA3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8B12-B970-C241-BF0F-6C2024C4B176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49799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Negative–congruent: steal steel</a:t>
            </a:r>
          </a:p>
          <a:p>
            <a:r>
              <a:rPr lang="en-US" dirty="0"/>
              <a:t>Negative–incongruent: steal tomatoes</a:t>
            </a:r>
          </a:p>
          <a:p>
            <a:r>
              <a:rPr lang="en-US" dirty="0"/>
              <a:t>Neutral–congruent: unload steel</a:t>
            </a:r>
          </a:p>
          <a:p>
            <a:r>
              <a:rPr lang="en-US" dirty="0"/>
              <a:t>Neutral–incongruent: unload tomatoes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8B12-B970-C241-BF0F-6C2024C4B176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12226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200" b="0" dirty="0"/>
              <a:t>Prediction 2a (Attention-narrowing): Negative verbs reduce resources for subsequent nouns → smaller or absent N400/P600. </a:t>
            </a:r>
          </a:p>
          <a:p>
            <a:pPr>
              <a:lnSpc>
                <a:spcPct val="150000"/>
              </a:lnSpc>
            </a:pPr>
            <a:r>
              <a:rPr lang="en-US" sz="1200" b="0" dirty="0"/>
              <a:t>Prediction 2b (Priority-binding): Emotional verbs enhance processing of subsequent nouns → larger N400/P600. </a:t>
            </a:r>
          </a:p>
          <a:p>
            <a:endParaRPr lang="en-KR" b="0" dirty="0"/>
          </a:p>
          <a:p>
            <a:endParaRPr lang="en-K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8B12-B970-C241-BF0F-6C2024C4B176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68792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8B12-B970-C241-BF0F-6C2024C4B176}" type="slidenum">
              <a:rPr lang="en-KR" smtClean="0"/>
              <a:t>14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9976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7848-E759-7C34-A562-D405DC619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BA693-8722-4A5D-F0F2-E69F3015A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3A2A-379C-304D-CD90-2E31F06E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CA2EE-D168-83DA-08AD-B15DF76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0C518-5A7A-D772-694F-2A8A39E0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9692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2351-8AB5-865B-7F40-DF63909D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14D2-9AFF-2E74-5125-CE06170AA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004DB-00A2-EED8-EE49-BB6B5AC8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32A5C-DA56-D01D-0975-981107BF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7503C-2FC3-1F4F-C5FB-911B705D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227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2D8D-08A4-08B5-3FD6-A667FEBB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15481-3AA9-6517-A4D9-8CA0B6CEA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B5B69-8204-7123-81CE-4FA34C6C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A520F-052C-7407-1903-9C78C169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B1FC-2240-1D69-120D-DA89CB28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007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AF60-8BC5-9E80-13A8-DB65F47D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FBD76-102B-6531-6FD8-C9124F261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7982C-E785-8C98-D457-48C9E7098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425CB-9EA6-61E2-2646-9C9BEEA9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AD793-9E90-D87F-6B8F-A86316E3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8077B-1E2F-3AED-BDAD-DE8D3C6C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5158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912F-4A36-2818-59B9-B9D56A7F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D8863-B3ED-485F-50FD-76861BE6D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6181F-727B-3F3A-8DA2-627F20A13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9D666-EDAF-EA4B-99D0-D276518DE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86908-A576-BC93-2FDB-AFDCD9E2D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C364-8CF7-FCED-E8D4-1E1DFF05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09170-37B5-6B6C-6DAC-EF5DDC5F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43CDE-167D-2473-7F39-D7B52110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4649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49DC-9B3A-14C5-0923-78791A4A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EA02B-A0BB-521D-8B0F-DD3C978E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D890C-72B8-2E42-F3A2-87493F4E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8523F-CB2F-6836-87B4-77434098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0327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608EF-7E09-A9C5-BA5E-260F5E5D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65149-B489-2795-B6DA-E00E2E6F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C66EA-3280-3E5A-154D-62EEE9E8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3943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CFFE-258E-0D22-1502-19B1244A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4341D-8F5A-FAD9-5F70-DCD006C19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889A4-8C92-DC64-F6C2-2D252CD1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45892-6970-B924-AC6D-A56F0D3B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A6CD-5FC2-92FB-5BFB-AC663ED7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2A32E-5716-70DB-374C-043FD738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713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654A-F4E9-BF8E-81DB-6FD44E92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F3FC8-EA28-35B2-509A-F95D9A733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71013-C935-A370-99AF-CE7F9CAF3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5B39D-A3C9-C437-9A39-D5B2FFBB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568E9-8FA3-F141-BF65-9EFC5F81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82047-734E-EFBF-6FB8-61CE2C43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4338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62A9-DE6C-9642-A6DC-4762FA8E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10DA2-1EB2-B1D7-897C-0BF8F51CF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A57F-B138-C076-10C4-E49581D5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DC199-B6C3-215C-B81A-BFD91B27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A7D3-D41B-E268-5625-B009C181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3643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DF96E-A603-63B6-8801-3FB2406B4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E3DB5-6030-EBF8-BAB2-7B9F7AD65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79E84-4BF5-FCEA-0C8F-87E13111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4C030-D52B-F4F2-907F-B6A665F8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72973-8EFF-083E-AA4B-4DD6CE5A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7653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2CA07-5998-5EC4-4C71-4DA4D582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CD281-7201-DF6C-687D-5E088CFDB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A9529-51EE-4CE8-6343-EB30E7831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6F86C-FE6A-AB49-9F40-9CD471A2FC04}" type="datetimeFigureOut">
              <a:rPr lang="en-KR" smtClean="0"/>
              <a:t>9/20/25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09756-633B-08DF-2CE1-A4304899F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B4019-E6B8-C731-D423-C9EE8FC52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464D3-EE41-C442-87DA-A9766CC2B77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2838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2AD7-C4CC-C62D-F4D5-7BF9B70D4E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“The dynamic influence of emotional words on sentence comprehension: An ERP study” by Ding et al.(2016)</a:t>
            </a:r>
            <a:endParaRPr lang="en-KR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F91F4-99CB-384E-E9CF-022942A403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on the experiment in this paper </a:t>
            </a:r>
          </a:p>
          <a:p>
            <a:r>
              <a:rPr lang="en-US" dirty="0"/>
              <a:t>Jinil Kim</a:t>
            </a:r>
          </a:p>
          <a:p>
            <a:r>
              <a:rPr lang="en-US" dirty="0"/>
              <a:t>Experimental Linguistics, 25/09/23</a:t>
            </a:r>
          </a:p>
        </p:txBody>
      </p:sp>
    </p:spTree>
    <p:extLst>
      <p:ext uri="{BB962C8B-B14F-4D97-AF65-F5344CB8AC3E}">
        <p14:creationId xmlns:p14="http://schemas.microsoft.com/office/powerpoint/2010/main" val="388526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97D-5A0F-CA64-3BEE-4E2D2A30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Research Team</a:t>
            </a:r>
          </a:p>
        </p:txBody>
      </p:sp>
      <p:pic>
        <p:nvPicPr>
          <p:cNvPr id="1026" name="Picture 2" descr="Yang, Yufang">
            <a:extLst>
              <a:ext uri="{FF2B5EF4-FFF2-40B4-BE49-F238E27FC236}">
                <a16:creationId xmlns:a16="http://schemas.microsoft.com/office/drawing/2014/main" id="{CD005F29-6261-601D-F183-D06800BB0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3040572" cy="432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7C81BC-784D-87FA-CEFD-3DD0F89A18E2}"/>
              </a:ext>
            </a:extLst>
          </p:cNvPr>
          <p:cNvSpPr txBox="1"/>
          <p:nvPr/>
        </p:nvSpPr>
        <p:spPr>
          <a:xfrm>
            <a:off x="4174587" y="1711470"/>
            <a:ext cx="67308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Authors: Jinfeng Ding &amp; Lin Wang &amp; Yufang Yang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Yufang Yang’s Research Team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Institute of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Psychology</a:t>
            </a:r>
            <a:r>
              <a:rPr lang="en-US" dirty="0"/>
              <a:t>, Chinese Academy of Sciences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Linguistic</a:t>
            </a:r>
            <a:r>
              <a:rPr lang="en-US" dirty="0"/>
              <a:t> sciences and cognitive neurosciences</a:t>
            </a:r>
            <a:endParaRPr lang="en-KR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7D5B4-FF2E-16F3-AF82-77998014C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218" y="3778191"/>
            <a:ext cx="7353300" cy="87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4842A-D367-315E-5D52-225B56E6CE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4436"/>
          <a:stretch>
            <a:fillRect/>
          </a:stretch>
        </p:blipFill>
        <p:spPr>
          <a:xfrm>
            <a:off x="4170218" y="4966887"/>
            <a:ext cx="7772400" cy="132556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D355F19-34B9-E71E-537A-F2878444FBED}"/>
              </a:ext>
            </a:extLst>
          </p:cNvPr>
          <p:cNvSpPr/>
          <p:nvPr/>
        </p:nvSpPr>
        <p:spPr>
          <a:xfrm>
            <a:off x="4228092" y="5068691"/>
            <a:ext cx="682906" cy="3666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1114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C2AE-B986-A44B-4185-9EA69E95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Background (I)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4F70BB-B4D0-2100-5848-69CED6A3E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KR" sz="2400" dirty="0"/>
              <a:t>Traditionally, emotion and cognition were considered as </a:t>
            </a:r>
            <a:r>
              <a:rPr lang="en-KR" sz="2400" dirty="0">
                <a:solidFill>
                  <a:srgbClr val="FF0000"/>
                </a:solidFill>
              </a:rPr>
              <a:t>separate</a:t>
            </a:r>
            <a:r>
              <a:rPr lang="en-KR" sz="2400" dirty="0"/>
              <a:t> systems</a:t>
            </a:r>
          </a:p>
          <a:p>
            <a:pPr>
              <a:lnSpc>
                <a:spcPct val="150000"/>
              </a:lnSpc>
            </a:pPr>
            <a:r>
              <a:rPr lang="en-KR" sz="2400" dirty="0"/>
              <a:t>However, in neuroscience, their </a:t>
            </a:r>
            <a:r>
              <a:rPr lang="en-KR" sz="2400" dirty="0">
                <a:solidFill>
                  <a:srgbClr val="0070C0"/>
                </a:solidFill>
              </a:rPr>
              <a:t>interaction &amp; integration </a:t>
            </a:r>
            <a:r>
              <a:rPr lang="en-KR" sz="2400" dirty="0"/>
              <a:t>were considered</a:t>
            </a:r>
          </a:p>
          <a:p>
            <a:pPr lvl="1">
              <a:lnSpc>
                <a:spcPct val="150000"/>
              </a:lnSpc>
            </a:pPr>
            <a:r>
              <a:rPr lang="en-KR" sz="2000" dirty="0"/>
              <a:t>Cognition ⇔ Emotion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Such a relationship is also considered in language</a:t>
            </a:r>
          </a:p>
          <a:p>
            <a:pPr lvl="1">
              <a:lnSpc>
                <a:spcPct val="150000"/>
              </a:lnSpc>
            </a:pPr>
            <a:r>
              <a:rPr lang="en-KR" sz="2000" dirty="0">
                <a:solidFill>
                  <a:schemeClr val="bg1">
                    <a:lumMod val="50000"/>
                  </a:schemeClr>
                </a:solidFill>
              </a:rPr>
              <a:t>Besides the controversy on relationship between cognition and language…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How </a:t>
            </a:r>
            <a:r>
              <a:rPr lang="en-US" sz="2400" b="1" dirty="0"/>
              <a:t>emotional words </a:t>
            </a:r>
            <a:r>
              <a:rPr lang="en-US" sz="2400" dirty="0"/>
              <a:t>are processed and influence other processing.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424009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0666-F881-0A76-0537-F93369A3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Background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1A9E-B63F-4713-A172-F5AA00E4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0647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Language processing includes </a:t>
            </a:r>
            <a:r>
              <a:rPr lang="en-US" sz="2400" b="1" dirty="0"/>
              <a:t>semantic integration </a:t>
            </a:r>
            <a:r>
              <a:rPr lang="en-US" sz="2400" dirty="0"/>
              <a:t>&amp; </a:t>
            </a:r>
            <a:r>
              <a:rPr lang="en-US" sz="2400" b="1" dirty="0"/>
              <a:t>emotional information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ERP studies show effects of emotional words on comprehension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capture </a:t>
            </a:r>
            <a:r>
              <a:rPr lang="en-US" sz="2000" b="1" dirty="0"/>
              <a:t>attentional resources </a:t>
            </a:r>
            <a:r>
              <a:rPr lang="en-US" sz="2000" dirty="0"/>
              <a:t>(early P1/N1, P2)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influence </a:t>
            </a:r>
            <a:r>
              <a:rPr lang="en-US" sz="2000" b="1" dirty="0"/>
              <a:t>semantic integration </a:t>
            </a:r>
            <a:r>
              <a:rPr lang="en-US" sz="2000" dirty="0"/>
              <a:t>(N400) &amp; differs by its </a:t>
            </a:r>
            <a:r>
              <a:rPr lang="en-US" sz="2000" b="1" dirty="0"/>
              <a:t>valence </a:t>
            </a:r>
            <a:r>
              <a:rPr lang="en-US" sz="2000" dirty="0"/>
              <a:t>(positive, negative)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affect </a:t>
            </a:r>
            <a:r>
              <a:rPr lang="en-US" sz="2000" b="1" dirty="0"/>
              <a:t>reanalysis</a:t>
            </a:r>
            <a:r>
              <a:rPr lang="en-US" sz="2000" dirty="0"/>
              <a:t> (P600)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Research question:</a:t>
            </a:r>
            <a:r>
              <a:rPr lang="en-US" sz="2400" dirty="0"/>
              <a:t> How do </a:t>
            </a:r>
            <a:r>
              <a:rPr lang="en-US" sz="2400" b="1" dirty="0"/>
              <a:t>emotional verbs </a:t>
            </a:r>
            <a:r>
              <a:rPr lang="en-US" sz="2400" dirty="0"/>
              <a:t>influence the semantic integration of following </a:t>
            </a:r>
            <a:r>
              <a:rPr lang="en-US" sz="2400" b="1" dirty="0"/>
              <a:t>neutral nouns</a:t>
            </a:r>
            <a:r>
              <a:rPr lang="en-US" sz="2400" dirty="0"/>
              <a:t>?</a:t>
            </a:r>
          </a:p>
          <a:p>
            <a:pPr>
              <a:lnSpc>
                <a:spcPct val="150000"/>
              </a:lnSpc>
            </a:pP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222917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25AF-751C-CB4A-530F-FA27A24E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8BF8-72C7-75ED-6BE0-7799428B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7E6E-D297-F869-052A-82C1B0E1B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Research question:</a:t>
            </a:r>
            <a:r>
              <a:rPr lang="en-US" sz="2400" dirty="0"/>
              <a:t> How do emotional verbs influence the semantic integration of following neutral nouns?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Inconsistent views on effects of </a:t>
            </a:r>
            <a:r>
              <a:rPr lang="en-US" sz="2000" b="1" dirty="0"/>
              <a:t>emotional context </a:t>
            </a:r>
            <a:r>
              <a:rPr lang="en-US" sz="2000" dirty="0"/>
              <a:t>or</a:t>
            </a:r>
            <a:r>
              <a:rPr lang="en-US" sz="2000" b="1" dirty="0"/>
              <a:t> words </a:t>
            </a:r>
            <a:r>
              <a:rPr lang="en-US" sz="2000" dirty="0"/>
              <a:t>on analysis of </a:t>
            </a:r>
            <a:r>
              <a:rPr lang="en-US" sz="2000" b="1" dirty="0"/>
              <a:t>neutral information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Related to two main theories on their effects</a:t>
            </a:r>
          </a:p>
          <a:p>
            <a:pPr lvl="1">
              <a:lnSpc>
                <a:spcPct val="150000"/>
              </a:lnSpc>
            </a:pPr>
            <a:r>
              <a:rPr lang="en-KR" sz="2000" dirty="0"/>
              <a:t>Priority-binding theory: </a:t>
            </a:r>
            <a:r>
              <a:rPr lang="en-KR" sz="2000" dirty="0">
                <a:solidFill>
                  <a:srgbClr val="0070C0"/>
                </a:solidFill>
              </a:rPr>
              <a:t>enhancement</a:t>
            </a:r>
            <a:r>
              <a:rPr lang="en-KR" sz="2000" dirty="0"/>
              <a:t> effect</a:t>
            </a:r>
          </a:p>
          <a:p>
            <a:pPr lvl="1">
              <a:lnSpc>
                <a:spcPct val="150000"/>
              </a:lnSpc>
            </a:pPr>
            <a:r>
              <a:rPr lang="en-KR" sz="2000" dirty="0"/>
              <a:t>Attention narrowing theory: </a:t>
            </a:r>
            <a:r>
              <a:rPr lang="en-KR" sz="2000" dirty="0">
                <a:solidFill>
                  <a:srgbClr val="C00000"/>
                </a:solidFill>
              </a:rPr>
              <a:t>impairment</a:t>
            </a:r>
            <a:r>
              <a:rPr lang="en-KR" sz="2000" dirty="0"/>
              <a:t> effect</a:t>
            </a:r>
          </a:p>
          <a:p>
            <a:pPr lvl="1">
              <a:lnSpc>
                <a:spcPct val="150000"/>
              </a:lnSpc>
            </a:pPr>
            <a:endParaRPr lang="en-KR" sz="2000" dirty="0"/>
          </a:p>
        </p:txBody>
      </p:sp>
    </p:spTree>
    <p:extLst>
      <p:ext uri="{BB962C8B-B14F-4D97-AF65-F5344CB8AC3E}">
        <p14:creationId xmlns:p14="http://schemas.microsoft.com/office/powerpoint/2010/main" val="341233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5A154-D9A0-B9DC-4ED6-B58EAF39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48A5-BA56-C64B-71BE-0278D47E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 (I)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3CFF-46F9-8967-B0D6-A5D91CD7E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Variables: </a:t>
            </a:r>
            <a:r>
              <a:rPr lang="en-US" sz="2400" dirty="0"/>
              <a:t>Noun’s congruity, Verb’s Emotionality, Semantic integration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Predictions: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Neutral context(verbs):</a:t>
            </a:r>
            <a:r>
              <a:rPr lang="en-US" sz="2000" dirty="0"/>
              <a:t> Incongruent nouns expected to elicit N400 (integration difficulty) and P600 (reanalysis).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Negative context(verbs):</a:t>
            </a:r>
            <a:endParaRPr lang="en-US" sz="2000" dirty="0"/>
          </a:p>
          <a:p>
            <a:pPr lvl="2">
              <a:lnSpc>
                <a:spcPct val="150000"/>
              </a:lnSpc>
            </a:pPr>
            <a:r>
              <a:rPr lang="en-US" sz="1600" b="1" dirty="0"/>
              <a:t>Attention-narrowing hypothesis:</a:t>
            </a:r>
            <a:r>
              <a:rPr lang="en-US" sz="1600" dirty="0"/>
              <a:t> Negative verbs capture attention, leaving fewer resources for nouns → reduced N400, diminished P600.</a:t>
            </a:r>
          </a:p>
          <a:p>
            <a:pPr lvl="2">
              <a:lnSpc>
                <a:spcPct val="150000"/>
              </a:lnSpc>
            </a:pPr>
            <a:r>
              <a:rPr lang="en-US" sz="1600" b="1" dirty="0"/>
              <a:t>Priority-binding hypothesis:</a:t>
            </a:r>
            <a:r>
              <a:rPr lang="en-US" sz="1600" dirty="0"/>
              <a:t> Emotional verbs enhance processing of following words → amplified N400/P600.</a:t>
            </a:r>
          </a:p>
        </p:txBody>
      </p:sp>
    </p:spTree>
    <p:extLst>
      <p:ext uri="{BB962C8B-B14F-4D97-AF65-F5344CB8AC3E}">
        <p14:creationId xmlns:p14="http://schemas.microsoft.com/office/powerpoint/2010/main" val="109789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3016-14E1-3609-C367-18690D47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(I)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B712-DF7B-BCD0-0C4C-F33B44F31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27735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Participants:</a:t>
            </a:r>
            <a:r>
              <a:rPr lang="en-US" sz="2400" dirty="0"/>
              <a:t> 30 Chinese university students (final analysis: 26).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Design:</a:t>
            </a:r>
            <a:r>
              <a:rPr lang="en-US" sz="2400" dirty="0"/>
              <a:t> 2 × 2 factorial design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Verb: Negative vs. Neutral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Noun: Congruent vs. Incongruent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Stimuli:</a:t>
            </a:r>
            <a:r>
              <a:rPr lang="en-US" sz="2400" dirty="0"/>
              <a:t> Chinese sentences structured ‘context + critical verb + critical noun’.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8900C-E58C-ED34-4A70-979C9753F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454322"/>
              </p:ext>
            </p:extLst>
          </p:nvPr>
        </p:nvGraphicFramePr>
        <p:xfrm>
          <a:off x="838200" y="5079015"/>
          <a:ext cx="10515600" cy="14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57170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92315622"/>
                    </a:ext>
                  </a:extLst>
                </a:gridCol>
              </a:tblGrid>
              <a:tr h="70693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Negative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–congruent: steal steel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Negative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</a:rPr>
                        <a:t>incongruent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: steal tomatoes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9192"/>
                  </a:ext>
                </a:extLst>
              </a:tr>
              <a:tr h="706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Neutral–congruent: unload steel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Neutral–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incongruent</a:t>
                      </a:r>
                      <a:r>
                        <a:rPr lang="en-US" sz="2000" dirty="0"/>
                        <a:t>: unload tomatoes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086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60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AC36-D6AB-CC9E-8FC5-C4B53144C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1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Procedure: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Participants read sentences word-by-word while EEG was recorded.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Post-experiment comprehension test </a:t>
            </a:r>
            <a:r>
              <a:rPr lang="en-US" sz="2000" b="1" dirty="0"/>
              <a:t>ensured attention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EEG Recording</a:t>
            </a:r>
            <a:r>
              <a:rPr lang="en-US" sz="2400" b="1" dirty="0"/>
              <a:t>:</a:t>
            </a:r>
            <a:r>
              <a:rPr lang="en-US" sz="2400" dirty="0"/>
              <a:t> 64 electrodes, components analyzed: N1, P2, N400, P600.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Controlled variables: 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Emotional valence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bias</a:t>
            </a:r>
            <a:r>
              <a:rPr lang="en-US" sz="2000" dirty="0"/>
              <a:t>: included corresponding positive verbs as filter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Word frequency </a:t>
            </a:r>
            <a:r>
              <a:rPr lang="en-US" sz="2000" dirty="0"/>
              <a:t>(via SUBTLEX corpus) &amp; </a:t>
            </a:r>
            <a:r>
              <a:rPr lang="en-US" sz="2000" b="1" dirty="0"/>
              <a:t>Number of strokes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Sentence order</a:t>
            </a:r>
            <a:r>
              <a:rPr lang="en-US" sz="2000" dirty="0"/>
              <a:t>: Pseudo-randomized order without three consecutive same conditions</a:t>
            </a:r>
          </a:p>
          <a:p>
            <a:pPr>
              <a:lnSpc>
                <a:spcPct val="150000"/>
              </a:lnSpc>
            </a:pPr>
            <a:endParaRPr lang="en-KR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28E70-DD73-D38E-6809-753718B5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(II)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14815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DB58-A933-DBFC-2001-4060DD18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BDB8-4117-92FC-411C-46EBCC8B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(III)</a:t>
            </a:r>
            <a:endParaRPr lang="en-K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F895F-8638-59F7-63EA-362BAC3AB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477" y="1690688"/>
            <a:ext cx="9801046" cy="4070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5BFDD-C1DA-13BA-DA03-08897B398204}"/>
              </a:ext>
            </a:extLst>
          </p:cNvPr>
          <p:cNvSpPr txBox="1"/>
          <p:nvPr/>
        </p:nvSpPr>
        <p:spPr>
          <a:xfrm>
            <a:off x="1195477" y="5760890"/>
            <a:ext cx="7255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2000" dirty="0"/>
              <a:t>Each measured by participants, except frequency and strokes</a:t>
            </a:r>
          </a:p>
        </p:txBody>
      </p:sp>
    </p:spTree>
    <p:extLst>
      <p:ext uri="{BB962C8B-B14F-4D97-AF65-F5344CB8AC3E}">
        <p14:creationId xmlns:p14="http://schemas.microsoft.com/office/powerpoint/2010/main" val="270758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336E-FABA-5A9F-C7B5-4BCBD689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(I)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FCE92-FD68-5B8D-D6AA-AB4F4AD1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856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KR" sz="2400" dirty="0"/>
              <a:t>Verb-level effects (Negative vs. Neutral)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P2 (170–240ms): Negative verbs elicited a </a:t>
            </a:r>
            <a:r>
              <a:rPr lang="en-US" sz="2000" b="1" dirty="0"/>
              <a:t>significantly larger P2 </a:t>
            </a:r>
            <a:r>
              <a:rPr lang="en-US" sz="2000" dirty="0"/>
              <a:t>than neutral verbs.</a:t>
            </a:r>
          </a:p>
          <a:p>
            <a:pPr lvl="2">
              <a:lnSpc>
                <a:spcPct val="150000"/>
              </a:lnSpc>
            </a:pPr>
            <a:r>
              <a:rPr lang="en-US" i="1" dirty="0"/>
              <a:t>F</a:t>
            </a:r>
            <a:r>
              <a:rPr lang="en-US" dirty="0"/>
              <a:t>(1,25) = 4.67, </a:t>
            </a:r>
            <a:r>
              <a:rPr lang="en-US" i="1" dirty="0"/>
              <a:t>p</a:t>
            </a:r>
            <a:r>
              <a:rPr lang="en-US" dirty="0"/>
              <a:t> &lt; .05.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Captured more attention in early processing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N400 (300–470ms): Negative verbs elicited a </a:t>
            </a:r>
            <a:r>
              <a:rPr lang="en-US" sz="2000" b="1" dirty="0"/>
              <a:t>significantly larger N400 </a:t>
            </a:r>
            <a:r>
              <a:rPr lang="en-US" sz="2000" dirty="0"/>
              <a:t>than neutral verbs.</a:t>
            </a:r>
          </a:p>
          <a:p>
            <a:pPr lvl="2">
              <a:lnSpc>
                <a:spcPct val="150000"/>
              </a:lnSpc>
            </a:pPr>
            <a:r>
              <a:rPr lang="en-US" i="1" dirty="0"/>
              <a:t>F</a:t>
            </a:r>
            <a:r>
              <a:rPr lang="en-US" dirty="0"/>
              <a:t>(1,25) = 8.21, </a:t>
            </a:r>
            <a:r>
              <a:rPr lang="en-US" i="1" dirty="0"/>
              <a:t>p</a:t>
            </a:r>
            <a:r>
              <a:rPr lang="en-US" dirty="0"/>
              <a:t> &lt; .01.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Harder to integrate semantically than neutral verbs</a:t>
            </a:r>
          </a:p>
          <a:p>
            <a:pPr>
              <a:lnSpc>
                <a:spcPct val="150000"/>
              </a:lnSpc>
            </a:pP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742046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1EDE-FD4D-41F1-5BEB-B1AD3ED7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(II)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49788-E074-81F2-5A6E-146124C34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08758" cy="5032375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Noun-level effects (Semantic congruity &amp; Verb type)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N400 (300–470 </a:t>
            </a:r>
            <a:r>
              <a:rPr lang="en-US" sz="2400" dirty="0" err="1"/>
              <a:t>ms</a:t>
            </a:r>
            <a:r>
              <a:rPr lang="en-US" sz="2400" dirty="0"/>
              <a:t>):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Neutral verb context: </a:t>
            </a:r>
            <a:r>
              <a:rPr lang="en-US" sz="2000" b="1" dirty="0"/>
              <a:t>incongruent nouns </a:t>
            </a:r>
            <a:r>
              <a:rPr lang="en-US" sz="2000" dirty="0"/>
              <a:t>elicited a </a:t>
            </a:r>
            <a:r>
              <a:rPr lang="en-US" sz="2000" b="1" dirty="0"/>
              <a:t>larger N400 </a:t>
            </a:r>
            <a:r>
              <a:rPr lang="en-US" sz="2000" dirty="0"/>
              <a:t>than congruent ones.</a:t>
            </a:r>
          </a:p>
          <a:p>
            <a:pPr lvl="2">
              <a:lnSpc>
                <a:spcPct val="150000"/>
              </a:lnSpc>
            </a:pPr>
            <a:r>
              <a:rPr lang="en-US" sz="1600" i="1" dirty="0"/>
              <a:t>F</a:t>
            </a:r>
            <a:r>
              <a:rPr lang="en-US" sz="1600" dirty="0"/>
              <a:t>(1,25) = 24.96, </a:t>
            </a:r>
            <a:r>
              <a:rPr lang="en-US" sz="1600" i="1" dirty="0"/>
              <a:t>p</a:t>
            </a:r>
            <a:r>
              <a:rPr lang="en-US" sz="1600" dirty="0"/>
              <a:t> &lt; .001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Negative verb context: N400 congruity effect </a:t>
            </a:r>
            <a:r>
              <a:rPr lang="en-US" sz="2000" b="1" dirty="0"/>
              <a:t>still significant </a:t>
            </a:r>
            <a:r>
              <a:rPr lang="en-US" sz="2000" dirty="0"/>
              <a:t>but </a:t>
            </a:r>
            <a:r>
              <a:rPr lang="en-US" sz="2000" b="1" dirty="0"/>
              <a:t>weaker</a:t>
            </a:r>
            <a:r>
              <a:rPr lang="en-US" sz="2000" dirty="0"/>
              <a:t>.</a:t>
            </a:r>
            <a:r>
              <a:rPr lang="en-US" sz="2000" b="1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600" i="1" dirty="0"/>
              <a:t>F</a:t>
            </a:r>
            <a:r>
              <a:rPr lang="en-US" sz="1600" dirty="0"/>
              <a:t>(1,25) = 6.04, </a:t>
            </a:r>
            <a:r>
              <a:rPr lang="en-US" sz="1600" i="1" dirty="0"/>
              <a:t>p</a:t>
            </a:r>
            <a:r>
              <a:rPr lang="en-US" sz="1600" dirty="0"/>
              <a:t> &lt; .05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55419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D596-1E42-416C-3F89-5F4FCF6B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51E4-7D5A-ECA3-DB3E-56167E18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(III)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39562-A4A6-5DC4-1BFC-777AF6565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Noun-level effects (Semantic congruity &amp; Verb type)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P600 (500–700 </a:t>
            </a:r>
            <a:r>
              <a:rPr lang="en-US" sz="2400" dirty="0" err="1"/>
              <a:t>ms</a:t>
            </a:r>
            <a:r>
              <a:rPr lang="en-US" sz="2400" dirty="0"/>
              <a:t>):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Neutral verb context: </a:t>
            </a:r>
            <a:r>
              <a:rPr lang="en-US" sz="2000" b="1" dirty="0"/>
              <a:t>incongruent nouns </a:t>
            </a:r>
            <a:r>
              <a:rPr lang="en-US" sz="2000" dirty="0"/>
              <a:t>elicited a </a:t>
            </a:r>
            <a:r>
              <a:rPr lang="en-US" sz="2000" b="1" dirty="0"/>
              <a:t>robust P600 effect</a:t>
            </a:r>
            <a:r>
              <a:rPr lang="en-US" sz="2000" dirty="0"/>
              <a:t>. </a:t>
            </a:r>
          </a:p>
          <a:p>
            <a:pPr lvl="2">
              <a:lnSpc>
                <a:spcPct val="150000"/>
              </a:lnSpc>
            </a:pPr>
            <a:r>
              <a:rPr lang="en-US" sz="1600" i="1" dirty="0"/>
              <a:t>F</a:t>
            </a:r>
            <a:r>
              <a:rPr lang="en-US" sz="1600" dirty="0"/>
              <a:t>(1,25) = 13.42, </a:t>
            </a:r>
            <a:r>
              <a:rPr lang="en-US" sz="1600" i="1" dirty="0"/>
              <a:t>p</a:t>
            </a:r>
            <a:r>
              <a:rPr lang="en-US" sz="1600" dirty="0"/>
              <a:t> &lt; .01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Negative verb context: </a:t>
            </a:r>
            <a:r>
              <a:rPr lang="en-US" sz="2000" b="1" dirty="0"/>
              <a:t>no significant </a:t>
            </a:r>
            <a:r>
              <a:rPr lang="en-US" sz="2000" dirty="0"/>
              <a:t>P600 congruity effect.</a:t>
            </a:r>
          </a:p>
          <a:p>
            <a:pPr lvl="2">
              <a:lnSpc>
                <a:spcPct val="150000"/>
              </a:lnSpc>
            </a:pPr>
            <a:r>
              <a:rPr lang="en-US" sz="1600" i="1" dirty="0"/>
              <a:t>F</a:t>
            </a:r>
            <a:r>
              <a:rPr lang="en-US" sz="1600" dirty="0"/>
              <a:t> &lt; 1, </a:t>
            </a:r>
            <a:r>
              <a:rPr lang="en-US" sz="1600" dirty="0" err="1"/>
              <a:t>n.s</a:t>
            </a:r>
            <a:r>
              <a:rPr lang="en-US" sz="1600" dirty="0"/>
              <a:t>.</a:t>
            </a:r>
          </a:p>
          <a:p>
            <a:pPr lvl="1">
              <a:lnSpc>
                <a:spcPct val="150000"/>
              </a:lnSpc>
            </a:pP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98063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6AF1-084A-234E-93F0-C23DD889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E4487-E89A-397D-1078-D197D0630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P1 (Neutral context):</a:t>
            </a:r>
            <a:r>
              <a:rPr lang="en-US" sz="2400" dirty="0"/>
              <a:t> Incongruent nouns elicit both N400 and P600. 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70C0"/>
                </a:solidFill>
              </a:rPr>
              <a:t>Supported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R</a:t>
            </a:r>
            <a:r>
              <a:rPr lang="en-US" sz="2000" dirty="0"/>
              <a:t>obust N400 &amp; P600 observed.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P2a (Attention-narrowing):</a:t>
            </a:r>
            <a:r>
              <a:rPr lang="en-US" sz="2400" dirty="0"/>
              <a:t> Negative verbs → smaller N400/P600. 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Partially supported</a:t>
            </a:r>
            <a:r>
              <a:rPr lang="en-US" sz="2000" dirty="0"/>
              <a:t>: Congruity effect on N400 remained but weaker, P600 was absent.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P2b (Priority-binding):</a:t>
            </a:r>
            <a:r>
              <a:rPr lang="en-US" sz="2400" dirty="0"/>
              <a:t> Negative verbs → larger N400/P600. 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Not supported</a:t>
            </a:r>
            <a:r>
              <a:rPr lang="en-US" sz="2000" dirty="0"/>
              <a:t>: did not find enhanced N400 &amp; reanalysis (P600) was impaired.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67268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0F40-0384-D83D-FD48-1676595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A3E8-6C2F-F4DE-E64E-AAB67E5E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&amp; Limitations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7C21-998F-4008-8AC9-3DD7D6756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19660" cy="503237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Significance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Negative verbs </a:t>
            </a:r>
            <a:r>
              <a:rPr lang="en-US" sz="2000" dirty="0"/>
              <a:t>disrupted </a:t>
            </a:r>
            <a:r>
              <a:rPr lang="en-US" sz="2000" b="1" dirty="0"/>
              <a:t>congruity effect </a:t>
            </a:r>
            <a:r>
              <a:rPr lang="en-US" sz="2000" dirty="0"/>
              <a:t>on semantic integration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Results </a:t>
            </a:r>
            <a:r>
              <a:rPr lang="en-US" sz="2000" b="1" dirty="0"/>
              <a:t>supported the attention-narrowing hypothesis </a:t>
            </a:r>
            <a:r>
              <a:rPr lang="en-US" sz="2000" dirty="0"/>
              <a:t>over priority-binding.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Emotional words </a:t>
            </a:r>
            <a:r>
              <a:rPr lang="en-US" sz="2000" dirty="0"/>
              <a:t>affect the processing of subsequent semantic information, leading to shallower reanalysis.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Limitation &amp; Further Research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Generalizability: The experiment was conducted only in Chinese.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Task Demands: Participants were asked only to read for comprehension.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More explicit tasks (e.g., plausibility judgment task) in realistic design (e.g., Minecraft) might reveal </a:t>
            </a:r>
            <a:r>
              <a:rPr lang="en-US" sz="1600"/>
              <a:t>other effects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0180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954</Words>
  <Application>Microsoft Macintosh PowerPoint</Application>
  <PresentationFormat>Widescreen</PresentationFormat>
  <Paragraphs>113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“The dynamic influence of emotional words on sentence comprehension: An ERP study” by Ding et al.(2016)</vt:lpstr>
      <vt:lpstr>Research Team</vt:lpstr>
      <vt:lpstr>Background (I)</vt:lpstr>
      <vt:lpstr>Background (II)</vt:lpstr>
      <vt:lpstr>Research Question</vt:lpstr>
      <vt:lpstr>Predictions (I)</vt:lpstr>
      <vt:lpstr>Method (I)</vt:lpstr>
      <vt:lpstr>Method (II)</vt:lpstr>
      <vt:lpstr>Method (III)</vt:lpstr>
      <vt:lpstr>Results (I)</vt:lpstr>
      <vt:lpstr>Results (II)</vt:lpstr>
      <vt:lpstr>Results (III)</vt:lpstr>
      <vt:lpstr>Conclusions</vt:lpstr>
      <vt:lpstr>Significance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Jinil Kim</dc:creator>
  <cp:lastModifiedBy>Jinil Kim</cp:lastModifiedBy>
  <cp:revision>1</cp:revision>
  <cp:lastPrinted>2025-09-20T05:46:48Z</cp:lastPrinted>
  <dcterms:created xsi:type="dcterms:W3CDTF">2025-09-20T04:36:48Z</dcterms:created>
  <dcterms:modified xsi:type="dcterms:W3CDTF">2025-09-20T06:04:43Z</dcterms:modified>
</cp:coreProperties>
</file>